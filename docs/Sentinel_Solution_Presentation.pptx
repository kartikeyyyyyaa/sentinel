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/ Netra: one platform implementing reference Models 1, 2 and 3. Onboards heterogeneous cameras, runs edge AI analytics, and produces real-time intelligence with a court-admissible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fragmentation + scale. 80,000 cameras across departments and vendors, with no unified intelligence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 all three reference models as one layered platform. Model 1 is the spine; Models 2 and 3 are two ingestion modes of the same system, chosen per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properties: only metadata crosses the edge boundary, and every path terminates at the RLS-enforced database — the single authorization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a department's VMS is a new adapter + a row of config, not a core change. Mixed codecs/resolutions/protocols normalised into one record. Onboarding is catalogue-driven for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cascade rejects cheaply first. Measured funnel: ~8 OCR calls per 1000 frames. ANPR keeps both raw and normalised reads and never substitutes characters — evidential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 — the graded live test case is our existing watchlist-trail feature. Match A + match B = a route with computed speed/heading. Already verified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Women's safety is a first-class path: unauthenticated SOS, behavioural (non-demographic) detection, and a console Safety Mode. It reuses the alert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RLS in the database, one asserted claim, hash-chained audit trail, encrypted credentials. 198 mostly-adversarial tests cover the security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metadata-not-video decision makes 80,000 cameras affordable. Edge compute linear per district; RLS cost flat; metadata-only storage; phased rollout on the jurisdiction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points: 240 tests pass, 30 cameras onboarded live across 10 districts, all three models as one platform, metadata-only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live demo script. Everything shown is real, running software verified against a real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1965960"/>
            <a:ext cx="256032" cy="256032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3444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SENTINEL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NETRA Platform  ·  Unified CCTV Intelligence for Law Enforcement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291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video-management &amp; analytics platform that onboards diverse CCTV systems, correlates live feeds with government databases, and turns them into real-time, auditable intelligence.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CCTV Integration Hackathon 2026</a:t>
            </a:r>
            <a:pPr indent="0" marL="0">
              <a:buNone/>
            </a:pPr>
            <a:r>
              <a:rPr lang="en-US" sz="13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Home Department, Government of Gujarat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5852160"/>
            <a:ext cx="2926080" cy="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Thousands of cameras. No single brain.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Gujarat's cameras are spread across departments, vendors and protocols — each an island. There is no unified way to view them, correlate a vehicle across them, or act in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419856"/>
            <a:ext cx="292608" cy="292608"/>
          </a:xfrm>
          <a:prstGeom prst="ellipse">
            <a:avLst/>
          </a:prstGeom>
          <a:solidFill>
            <a:srgbClr val="FFB4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32186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538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analog, and multi-vendor VMS systems that don't talk to each other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471416"/>
            <a:ext cx="292608" cy="292608"/>
          </a:xfrm>
          <a:prstGeom prst="ellipse">
            <a:avLst/>
          </a:prstGeom>
          <a:solidFill>
            <a:srgbClr val="FFB4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4270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between cameras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5902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seen at one junction can't be followed to the next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5522976"/>
            <a:ext cx="292608" cy="292608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5321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Video-heavy &amp; unscalable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6418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raw video for a whole state is physically infeasible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4688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~80,000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611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to integrate across Gujarat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2976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is the whole problem — the solution has to be built for it from the first camera, not retrofitted.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1, 2 &amp; 3 — as one layered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 these aren't alternatives — they're layers of the same system. We built them as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95728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0E1826"/>
          </a:solidFill>
          <a:ln w="15875">
            <a:solidFill>
              <a:srgbClr val="2FE0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786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37744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72491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registry, GIS map, jurisdiction hierarchy, RBAC, watchlist &amp; alerts, and a tamper-evident audit trail — the mandatory spine both other layers depend 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630168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0E1826"/>
          </a:solidFill>
          <a:ln w="15875">
            <a:solidFill>
              <a:srgbClr val="47A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130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6118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substrate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95935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adapter framework that onboards heterogeneous cameras and VMSs (ONVIF/RTSP, Genetec, Milestone, the government grid) behind one interface.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864608"/>
            <a:ext cx="1417320" cy="694944"/>
          </a:xfrm>
          <a:prstGeom prst="roundRect">
            <a:avLst>
              <a:gd name="adj" fmla="val 7895"/>
            </a:avLst>
          </a:prstGeom>
          <a:solidFill>
            <a:srgbClr val="0E1826"/>
          </a:solidFill>
          <a:ln w="15875">
            <a:solidFill>
              <a:srgbClr val="8FD6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4748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84632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analytics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19379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viewing metadata, ANPR, watchlist matching and alerts — inference runs at the edge, only metadata travels centrally.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platform: you can't correlate a plate across cameras without one trusted registry of which camera is where, in whose jurisdiction, and who may see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Analyse at the edge, move only metadata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SITES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41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cameras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(IP · analog · multi-vendor)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5387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VMS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(Genetec · Milestone)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526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360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worker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→ detect → ANPR →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→ tracker →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3749040"/>
            <a:ext cx="868680" cy="0"/>
          </a:xfrm>
          <a:prstGeom prst="line">
            <a:avLst/>
          </a:prstGeom>
          <a:noFill/>
          <a:ln w="3175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931920" y="3063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(JSON)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3931920" cy="4023360"/>
          </a:xfrm>
          <a:prstGeom prst="roundRect">
            <a:avLst>
              <a:gd name="adj" fmla="val 1860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PLATFORM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57800" y="23317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4597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adapters (Model 3)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camera catalogues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34290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355701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API (Model 1)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· RBAC · watchlist · alerts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45262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46542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Row-Level-Security enforced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3749040"/>
            <a:ext cx="822960" cy="0"/>
          </a:xfrm>
          <a:prstGeom prst="line">
            <a:avLst/>
          </a:prstGeom>
          <a:noFill/>
          <a:ln w="31750">
            <a:solidFill>
              <a:srgbClr val="47A8F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915400" y="3200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1737360"/>
            <a:ext cx="1600200" cy="4023360"/>
          </a:xfrm>
          <a:prstGeom prst="roundRect">
            <a:avLst>
              <a:gd name="adj" fmla="val 4571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966960" y="29260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alerts ·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trail ·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women's-safety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Video-central would be ~200 Gbps for 80,000 cameras — impossible. Metadata-central is a few Mbps.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7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· MODEL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interface for every camera and VMS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deployments are never one vendor. Each source is normalised into one camera record, so everything downstream is protocol-agnostic.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96312"/>
            <a:ext cx="146304" cy="146304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ONVIF / RTSP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072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cameras &amp; NVRs, and analog behind an encoder — the direct-connect (Model 2) path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2496312"/>
            <a:ext cx="146304" cy="146304"/>
          </a:xfrm>
          <a:prstGeom prst="ellipse">
            <a:avLst/>
          </a:prstGeom>
          <a:solidFill>
            <a:srgbClr val="47A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404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Genetec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28232" y="28072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VMS integrated via its API — for cameras a dept won't expose directly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913632"/>
            <a:ext cx="146304" cy="146304"/>
          </a:xfrm>
          <a:prstGeom prst="ellipse">
            <a:avLst/>
          </a:prstGeom>
          <a:solidFill>
            <a:srgbClr val="47A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245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common VMS platform, behind the same driver interface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6576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3913632"/>
            <a:ext cx="146304" cy="146304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822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Grid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42245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camera grid, consumed from its cameras.json catalogue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i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Catalogue-driven onboarding: 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reads a department's camera catalogue and registers the whole set — with locations and stream endpoints — in a single idempotent run.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· MODEL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cost-ordered cascade — cheap rejection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67712" y="2331720"/>
            <a:ext cx="201168" cy="0"/>
          </a:xfrm>
          <a:prstGeom prst="line">
            <a:avLst/>
          </a:prstGeom>
          <a:noFill/>
          <a:ln w="25400">
            <a:solidFill>
              <a:srgbClr val="7C8CA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96312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23944" y="2331720"/>
            <a:ext cx="201168" cy="0"/>
          </a:xfrm>
          <a:prstGeom prst="line">
            <a:avLst/>
          </a:prstGeom>
          <a:noFill/>
          <a:ln w="25400">
            <a:solidFill>
              <a:srgbClr val="7C8C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52544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52544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0176" y="2331720"/>
            <a:ext cx="201168" cy="0"/>
          </a:xfrm>
          <a:prstGeom prst="line">
            <a:avLst/>
          </a:prstGeom>
          <a:noFill/>
          <a:ln w="25400">
            <a:solidFill>
              <a:srgbClr val="7C8CA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08776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8776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36408" y="2331720"/>
            <a:ext cx="201168" cy="0"/>
          </a:xfrm>
          <a:prstGeom prst="line">
            <a:avLst/>
          </a:prstGeom>
          <a:noFill/>
          <a:ln w="25400">
            <a:solidFill>
              <a:srgbClr val="7C8C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65008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B294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65008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92640" y="2331720"/>
            <a:ext cx="201168" cy="0"/>
          </a:xfrm>
          <a:prstGeom prst="line">
            <a:avLst/>
          </a:prstGeom>
          <a:noFill/>
          <a:ln w="25400">
            <a:solidFill>
              <a:srgbClr val="7C8C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21240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3322C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21240" y="2084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703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~8</a:t>
            </a:r>
            <a:endParaRPr lang="en-US" sz="6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calls per 1,000 frames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1663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plate gate + once-per-track dedupe spend the expensive stages on almost nothing — 1,920 detected objects → 4 OCR calls in the self-test.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24612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built for evidence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023360"/>
            <a:ext cx="128016" cy="128016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6656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character substitution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OCR confusions are never 'fixed' — a substituted character is a fabricated one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4645152"/>
            <a:ext cx="128016" cy="128016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45537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normalised kept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forms stored on every read, so the evidence is auditable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5266944"/>
            <a:ext cx="128016" cy="128016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766560" y="51755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once per vehicle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once per frame — no contradictory plate strings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TEST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Track a vehicle across the whole grid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plate on the day, Sentinel returns its complete, timestamped, location-wise route across cameras — the graded challenge, already working.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0E1826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5184648"/>
            <a:ext cx="1097280" cy="-822960"/>
          </a:xfrm>
          <a:prstGeom prst="line">
            <a:avLst/>
          </a:prstGeom>
          <a:noFill/>
          <a:ln w="19050">
            <a:solidFill>
              <a:srgbClr val="2FE0C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651760" y="4361688"/>
            <a:ext cx="1188720" cy="274320"/>
          </a:xfrm>
          <a:prstGeom prst="line">
            <a:avLst/>
          </a:prstGeom>
          <a:noFill/>
          <a:ln w="19050">
            <a:solidFill>
              <a:srgbClr val="2FE0C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840480" y="4636008"/>
            <a:ext cx="822960" cy="-1005840"/>
          </a:xfrm>
          <a:prstGeom prst="line">
            <a:avLst/>
          </a:prstGeom>
          <a:noFill/>
          <a:ln w="19050">
            <a:solidFill>
              <a:srgbClr val="2FE0C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663440" y="3630168"/>
            <a:ext cx="1097280" cy="-548640"/>
          </a:xfrm>
          <a:prstGeom prst="line">
            <a:avLst/>
          </a:prstGeom>
          <a:noFill/>
          <a:ln w="19050">
            <a:solidFill>
              <a:srgbClr val="2FE0C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81328" y="5111496"/>
            <a:ext cx="201168" cy="201168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2852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78608" y="4288536"/>
            <a:ext cx="201168" cy="201168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377440" y="4462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67328" y="4562856"/>
            <a:ext cx="201168" cy="201168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66160" y="47365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0288" y="3557016"/>
            <a:ext cx="201168" cy="201168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89120" y="37307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87568" y="3008376"/>
            <a:ext cx="201168" cy="201168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0" y="31821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plate, two+ cameras, two+ times = a trail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2240280"/>
            <a:ext cx="4800600" cy="1783080"/>
          </a:xfrm>
          <a:prstGeom prst="roundRect">
            <a:avLst>
              <a:gd name="adj" fmla="val 4103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395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with no new subsystem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7889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watchlist match records camera + time. Two matches for one plate are, by construction, two points on the map — a trail. The console computes speed &amp; heading between them. No biometric identity resolution.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20840" y="416052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4315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6177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sightings of one stolen-plate entry from two cameras collapsed into one alert with a two-point trail, and the console rendered the route with estimated speed and heading — tested against a real database.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AGAINST WOMEN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dedicated women's-safety response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39696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A1220"/>
          </a:solidFill>
          <a:ln w="19050">
            <a:solidFill>
              <a:srgbClr val="FF5D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68296"/>
            <a:ext cx="274320" cy="274320"/>
          </a:xfrm>
          <a:prstGeom prst="ellipse">
            <a:avLst/>
          </a:prstGeom>
          <a:solidFill>
            <a:srgbClr val="FF5DA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28800" y="21031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SOS — no login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0545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/api/sos opens a critical alert immediately. A kiosk or a phone in a crisis can't be expected to authenticate first.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465576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A1220"/>
          </a:solidFill>
          <a:ln w="19050">
            <a:solidFill>
              <a:srgbClr val="47A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694176"/>
            <a:ext cx="274320" cy="274320"/>
          </a:xfrm>
          <a:prstGeom prst="ellipse">
            <a:avLst/>
          </a:prstGeom>
          <a:solidFill>
            <a:srgbClr val="47A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28800" y="342900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Behavioural, not appearance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3133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lone person followed, or encircled, in a flagged zone or after dark — geometry and time, never demographics.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791456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A1220"/>
          </a:solidFill>
          <a:ln w="19050">
            <a:solidFill>
              <a:srgbClr val="2FE0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5020056"/>
            <a:ext cx="274320" cy="27432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828800" y="475488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Mode on the console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1572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Reprioritises SOS &amp; safety alerts and highlights isolated/high-risk zones on the map at a glance.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5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to the same alert pipeline — an SOS gets the audit trail and live push for free, not a bolted-on parallel system.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Authorization enforced by the database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or compromise in the API cannot widen access — PostgreSQL decides, not the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59736"/>
            <a:ext cx="274320" cy="27432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26771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claim, derived authority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7860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asserts only who the user is; jurisdiction, permissions and scope are derived in-database by SECURITY DEFINER functions. No broader claim exists to forge.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11296"/>
            <a:ext cx="274320" cy="27432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33192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3016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hash-chained by database trigger, independently re-verifiable. Records purpose + case reference per access — DPDP Act 2023 aligned.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562856"/>
            <a:ext cx="274320" cy="274320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43708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encrypted at rest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681728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Per-credential keys wrapped by a master key held only in the environment; a DB-only compromise yields no usable passwords.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58200" y="2148840"/>
            <a:ext cx="3063240" cy="3611880"/>
          </a:xfrm>
          <a:prstGeom prst="roundRect">
            <a:avLst>
              <a:gd name="adj" fmla="val 2388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3063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198</a:t>
            </a:r>
            <a:endParaRPr lang="en-US" sz="64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41148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security tests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4572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tokens, credential transplant, audit tampering, timing oracles — the attacks, not just round-trips.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NUMBER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to 80,000 cameras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2A152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VIDEO-CENTRAL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547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~200 Gbps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ingress for 80,000 streams — physically infeasible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0E2A22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METADATA-CENTRAL (OURS)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317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few Mbps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91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alerts &amp; matches travel centrally — ~16 GB/day statewide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2803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~25–50 cameras / edge box → ~1,600–3,200 boxes, per district, linear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4251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security cost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82803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filters on indexed columns — query plans don't change from 5k to 80k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42519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41F30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rollout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82803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metadata-only, monthly-partitioned; phased on the jurisdiction tree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SLIDEWARE — RUNNING SOFTWARE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&amp; verified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security + 42 analytics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1945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cameras onboarded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Gujarat districts, live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06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4983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one platform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101A2A"/>
          </a:solidFill>
          <a:ln w="12700">
            <a:solidFill>
              <a:srgbClr val="2637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206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FE0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leaves the edge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983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metadata-only, by design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45720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96012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46304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1965960"/>
            <a:ext cx="64008" cy="64008"/>
          </a:xfrm>
          <a:prstGeom prst="ellipse">
            <a:avLst/>
          </a:prstGeom>
          <a:solidFill>
            <a:srgbClr val="1E2E44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2148840"/>
            <a:ext cx="256032" cy="256032"/>
          </a:xfrm>
          <a:prstGeom prst="ellipse">
            <a:avLst/>
          </a:prstGeom>
          <a:solidFill>
            <a:srgbClr val="2FE0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3444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3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See it live</a:t>
            </a:r>
            <a:endParaRPr lang="en-US" sz="46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2926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7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→ onboard the government grid → watch a plate light up across cameras → pull its route with speed &amp; heading → raise an SOS.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14400" y="4114800"/>
            <a:ext cx="2926080" cy="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· The NETRA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2026-09-06T07:15:11Z</dcterms:created>
  <dcterms:modified xsi:type="dcterms:W3CDTF">2026-09-06T07:15:11Z</dcterms:modified>
</cp:coreProperties>
</file>